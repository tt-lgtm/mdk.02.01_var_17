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8" r:id="rId10"/>
    <p:sldId id="269" r:id="rId11"/>
    <p:sldId id="270" r:id="rId12"/>
    <p:sldId id="261" r:id="rId13"/>
    <p:sldId id="263" r:id="rId14"/>
    <p:sldId id="262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4" d="100"/>
          <a:sy n="84" d="100"/>
        </p:scale>
        <p:origin x="-1590" y="-7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524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661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764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54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54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443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1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22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772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15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729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741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325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77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163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552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13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4733977-F691-41E4-BE35-DAD73F7F420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3C1EB95-3916-4FAE-A8D2-877BDD7F6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625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EB7D4D9-C39D-5C2A-A388-5ADC9827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3165" y="1986842"/>
            <a:ext cx="9400693" cy="228619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Индивидуальное задание</a:t>
            </a:r>
            <a:r>
              <a:rPr lang="ru-RU" dirty="0">
                <a:solidFill>
                  <a:schemeClr val="bg1"/>
                </a:solidFill>
              </a:rPr>
              <a:t/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>на </a:t>
            </a:r>
            <a:r>
              <a:rPr lang="ru-RU" dirty="0">
                <a:solidFill>
                  <a:schemeClr val="bg1"/>
                </a:solidFill>
              </a:rPr>
              <a:t>тему «Тестирование»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sz="3600" dirty="0">
                <a:solidFill>
                  <a:schemeClr val="bg1"/>
                </a:solidFill>
              </a:rPr>
              <a:t>по </a:t>
            </a:r>
            <a:r>
              <a:rPr lang="ru-RU" sz="3600" dirty="0" smtClean="0">
                <a:solidFill>
                  <a:schemeClr val="bg1"/>
                </a:solidFill>
              </a:rPr>
              <a:t>дисциплине МДК.02.01 Технология разработки программного обеспечения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7C694675-18AA-6EC5-AE70-08A324B91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961" y="5026032"/>
            <a:ext cx="4617817" cy="1220532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Выполнил студент </a:t>
            </a:r>
            <a:r>
              <a:rPr lang="ru-RU" b="1" dirty="0" smtClean="0">
                <a:solidFill>
                  <a:schemeClr val="bg1"/>
                </a:solidFill>
              </a:rPr>
              <a:t>третьего курса</a:t>
            </a:r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Группа: </a:t>
            </a:r>
            <a:r>
              <a:rPr lang="ru-RU" b="1" dirty="0" smtClean="0">
                <a:solidFill>
                  <a:schemeClr val="bg1"/>
                </a:solidFill>
              </a:rPr>
              <a:t>ИП-23-3</a:t>
            </a:r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ФИО: Лаптева Валерия Валерьевна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DD8C301-C8F5-B762-6821-3FB690671998}"/>
              </a:ext>
            </a:extLst>
          </p:cNvPr>
          <p:cNvSpPr txBox="1"/>
          <p:nvPr/>
        </p:nvSpPr>
        <p:spPr>
          <a:xfrm>
            <a:off x="1665417" y="432333"/>
            <a:ext cx="9526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СПб ГБПОУ Политехнический колледж городского хозяйства</a:t>
            </a:r>
          </a:p>
        </p:txBody>
      </p:sp>
    </p:spTree>
    <p:extLst>
      <p:ext uri="{BB962C8B-B14F-4D97-AF65-F5344CB8AC3E}">
        <p14:creationId xmlns:p14="http://schemas.microsoft.com/office/powerpoint/2010/main" val="231150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F48FED2-6396-213A-508D-D753B10FC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779945A-B93B-2C90-AAA5-484D35893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Тестирование </a:t>
            </a:r>
          </a:p>
          <a:p>
            <a:pPr marL="0" indent="0">
              <a:buNone/>
            </a:pP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Создать интерактивное приложение для тестирования знаний , например английского языка.</a:t>
            </a:r>
          </a:p>
          <a:p>
            <a:pPr marL="0" indent="0">
              <a:buNone/>
            </a:pPr>
            <a:r>
              <a:rPr lang="ru-RU" dirty="0"/>
              <a:t>Предоставить обратную связь и рекомендации по улучшению.</a:t>
            </a:r>
          </a:p>
          <a:p>
            <a:pPr marL="0" indent="0">
              <a:buNone/>
            </a:pPr>
            <a:r>
              <a:rPr lang="ru-RU" dirty="0"/>
              <a:t>Задачи</a:t>
            </a:r>
          </a:p>
          <a:p>
            <a:r>
              <a:rPr lang="ru-RU" dirty="0"/>
              <a:t>Разработать интерфейс для пользователя.</a:t>
            </a:r>
          </a:p>
          <a:p>
            <a:r>
              <a:rPr lang="ru-RU" dirty="0"/>
              <a:t>Реализовать различные типы вопросов (вставь правильный ответ, соедини, выбор из нескольких вариантов и т. д.).</a:t>
            </a:r>
          </a:p>
          <a:p>
            <a:r>
              <a:rPr lang="ru-RU" dirty="0"/>
              <a:t>Обеспечить систему оценки и отображения результатов.</a:t>
            </a:r>
          </a:p>
        </p:txBody>
      </p:sp>
    </p:spTree>
    <p:extLst>
      <p:ext uri="{BB962C8B-B14F-4D97-AF65-F5344CB8AC3E}">
        <p14:creationId xmlns:p14="http://schemas.microsoft.com/office/powerpoint/2010/main" val="89855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D80F7A5-E01F-DEC4-35B1-803173B7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Входные и выходные 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5469222-70D1-A810-05D0-1A2347F3E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2400" b="1" dirty="0"/>
              <a:t>Входные данные программы:</a:t>
            </a:r>
          </a:p>
          <a:p>
            <a:pPr marL="0" indent="0">
              <a:buNone/>
            </a:pPr>
            <a:r>
              <a:rPr lang="ru-RU" sz="2000" dirty="0"/>
              <a:t>Выбор пользователя в кнопках </a:t>
            </a:r>
            <a:r>
              <a:rPr lang="ru-RU" sz="2000" dirty="0" err="1"/>
              <a:t>RadioButton</a:t>
            </a:r>
            <a:r>
              <a:rPr lang="ru-RU" sz="2000" dirty="0"/>
              <a:t> </a:t>
            </a:r>
            <a:r>
              <a:rPr lang="ru-RU" sz="2000" dirty="0" err="1"/>
              <a:t>CheckBox</a:t>
            </a:r>
            <a:r>
              <a:rPr lang="ru-RU" sz="2000" dirty="0"/>
              <a:t> для ответов на вопросы.</a:t>
            </a:r>
          </a:p>
          <a:p>
            <a:pPr marL="0" indent="0">
              <a:buNone/>
            </a:pPr>
            <a:r>
              <a:rPr lang="ru-RU" sz="2000" dirty="0"/>
              <a:t>Ввод текста в текстовые поля </a:t>
            </a:r>
            <a:r>
              <a:rPr lang="ru-RU" sz="2000" dirty="0" err="1"/>
              <a:t>TextBox</a:t>
            </a:r>
            <a:r>
              <a:rPr lang="ru-RU" sz="2000" dirty="0"/>
              <a:t> и выбор ответа в </a:t>
            </a:r>
            <a:r>
              <a:rPr lang="ru-RU" sz="2000" dirty="0" err="1"/>
              <a:t>ComboBox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ru-RU" sz="2000" dirty="0"/>
              <a:t>Нажатия кнопок для перехода между вопросами.</a:t>
            </a:r>
          </a:p>
          <a:p>
            <a:pPr marL="0" indent="0">
              <a:buNone/>
            </a:pPr>
            <a:r>
              <a:rPr lang="ru-RU" sz="2400" b="1" dirty="0"/>
              <a:t>Выходные данные программы:</a:t>
            </a:r>
          </a:p>
          <a:p>
            <a:pPr marL="0" indent="0">
              <a:buNone/>
            </a:pPr>
            <a:r>
              <a:rPr lang="ru-RU" dirty="0"/>
              <a:t>Итоговый результат (</a:t>
            </a:r>
            <a:r>
              <a:rPr lang="ru-RU" dirty="0" err="1"/>
              <a:t>score</a:t>
            </a:r>
            <a:r>
              <a:rPr lang="ru-RU" dirty="0"/>
              <a:t>) — количество набранных баллов.</a:t>
            </a:r>
          </a:p>
          <a:p>
            <a:pPr marL="0" indent="0">
              <a:buNone/>
            </a:pPr>
            <a:r>
              <a:rPr lang="ru-RU" dirty="0"/>
              <a:t>Отображение сообщений с уровнем знаний и рекомендациями (</a:t>
            </a:r>
            <a:r>
              <a:rPr lang="ru-RU" dirty="0" err="1"/>
              <a:t>Labels</a:t>
            </a:r>
            <a:r>
              <a:rPr lang="ru-RU" dirty="0"/>
              <a:t> с текстом).</a:t>
            </a:r>
          </a:p>
          <a:p>
            <a:pPr marL="0" indent="0">
              <a:buNone/>
            </a:pPr>
            <a:r>
              <a:rPr lang="ru-RU" dirty="0"/>
              <a:t>Отображение и скрытие элементов управления (вопросы, картинки, кнопки и т.д.).</a:t>
            </a:r>
          </a:p>
          <a:p>
            <a:pPr marL="0" indent="0">
              <a:buNone/>
            </a:pPr>
            <a:r>
              <a:rPr lang="ru-RU" dirty="0"/>
              <a:t>Таймер обратного отсчёта на одном из вопросов.</a:t>
            </a:r>
          </a:p>
        </p:txBody>
      </p:sp>
    </p:spTree>
    <p:extLst>
      <p:ext uri="{BB962C8B-B14F-4D97-AF65-F5344CB8AC3E}">
        <p14:creationId xmlns:p14="http://schemas.microsoft.com/office/powerpoint/2010/main" val="422948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012AA9D-33B9-CEEC-E8B2-EE746912D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модель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5866FB1-FB96-9CE4-9E81-0BB862835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коде есть математическая модель для подсчёта баллов.</a:t>
            </a:r>
          </a:p>
          <a:p>
            <a:pPr marL="0" indent="0">
              <a:buNone/>
            </a:pPr>
            <a:r>
              <a:rPr lang="en-US" b="1" dirty="0"/>
              <a:t>int score </a:t>
            </a:r>
            <a:r>
              <a:rPr lang="ru-RU" dirty="0"/>
              <a:t>содержит в себе количество баллов пользователя, изначально составляет 0;</a:t>
            </a:r>
          </a:p>
          <a:p>
            <a:pPr marL="0" indent="0">
              <a:buNone/>
            </a:pPr>
            <a:r>
              <a:rPr lang="ru-RU" dirty="0"/>
              <a:t>За каждый правильный ответ на вопрос добавляется +1 балл. Если в вопросе больше 1 поля для ответа, то к </a:t>
            </a:r>
            <a:r>
              <a:rPr lang="en-US" dirty="0"/>
              <a:t>score </a:t>
            </a:r>
            <a:r>
              <a:rPr lang="ru-RU" dirty="0"/>
              <a:t>прибавляется столько баллов, сколько полей для ответа в вопросе;</a:t>
            </a:r>
          </a:p>
          <a:p>
            <a:pPr marL="0" indent="0">
              <a:buNone/>
            </a:pPr>
            <a:r>
              <a:rPr lang="ru-RU" dirty="0"/>
              <a:t>0-5 баллов = начальный уровень;</a:t>
            </a:r>
          </a:p>
          <a:p>
            <a:pPr marL="0" indent="0">
              <a:buNone/>
            </a:pPr>
            <a:r>
              <a:rPr lang="ru-RU" dirty="0"/>
              <a:t>6-10 баллов = средний уровень;</a:t>
            </a:r>
          </a:p>
          <a:p>
            <a:pPr marL="0" indent="0">
              <a:buNone/>
            </a:pPr>
            <a:r>
              <a:rPr lang="ru-RU" dirty="0"/>
              <a:t>11-16 баллов = продвинутый уровень.</a:t>
            </a:r>
          </a:p>
        </p:txBody>
      </p:sp>
    </p:spTree>
    <p:extLst>
      <p:ext uri="{BB962C8B-B14F-4D97-AF65-F5344CB8AC3E}">
        <p14:creationId xmlns:p14="http://schemas.microsoft.com/office/powerpoint/2010/main" val="248618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F5A1D74-E6A5-6A61-32A8-B4D9C0516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 программы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6EA7139D-7A43-4710-A3B9-99840B82DA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187992"/>
            <a:ext cx="865012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Начало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Показать главное меню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(Кнопки: Старт, Алгоритм оценивания, Выход)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Решение (выбор кнопки):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Если "Выход" → Завершить программу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Если "Алгоритм" → Показать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MessageBox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 правилами оценки</a:t>
            </a:r>
            <a:endParaRPr lang="ru-RU" altLang="ru-RU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Если "Старт" → Инициализировать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score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0, перейти к вопросу №1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Вопрос №1: показать элементы вопроса (картинка,</a:t>
            </a:r>
            <a:r>
              <a:rPr kumimoji="0" lang="en-US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RadioButtons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текст)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При нажатии кнопки далее:</a:t>
            </a:r>
            <a:r>
              <a:rPr lang="ru-RU" altLang="ru-RU" dirty="0">
                <a:solidFill>
                  <a:schemeClr val="tx1"/>
                </a:solidFill>
              </a:rPr>
              <a:t/>
            </a:r>
            <a:br>
              <a:rPr lang="ru-RU" altLang="ru-RU" dirty="0">
                <a:solidFill>
                  <a:schemeClr val="tx1"/>
                </a:solidFill>
              </a:rPr>
            </a:br>
            <a:r>
              <a:rPr lang="ru-RU" altLang="ru-RU" dirty="0">
                <a:solidFill>
                  <a:schemeClr val="tx1"/>
                </a:solidFill>
              </a:rPr>
              <a:t>Проверить ответ → если верно, </a:t>
            </a:r>
            <a:r>
              <a:rPr lang="ru-RU" altLang="ru-RU" dirty="0" err="1">
                <a:solidFill>
                  <a:schemeClr val="tx1"/>
                </a:solidFill>
              </a:rPr>
              <a:t>score</a:t>
            </a:r>
            <a:r>
              <a:rPr lang="ru-RU" altLang="ru-RU" dirty="0">
                <a:solidFill>
                  <a:schemeClr val="tx1"/>
                </a:solidFill>
              </a:rPr>
              <a:t>++</a:t>
            </a:r>
            <a:br>
              <a:rPr lang="ru-RU" altLang="ru-RU" dirty="0">
                <a:solidFill>
                  <a:schemeClr val="tx1"/>
                </a:solidFill>
              </a:rPr>
            </a:br>
            <a:r>
              <a:rPr lang="ru-RU" altLang="ru-RU" dirty="0">
                <a:solidFill>
                  <a:schemeClr val="tx1"/>
                </a:solidFill>
              </a:rPr>
              <a:t>Скрыть  элементы вопроса 1, показать элементы вопроса 2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Вопрос №2: </a:t>
            </a:r>
            <a:r>
              <a:rPr lang="ru-RU" altLang="ru-RU" b="1" dirty="0">
                <a:solidFill>
                  <a:schemeClr val="tx1"/>
                </a:solidFill>
              </a:rPr>
              <a:t>показать элементы вопроса (картинка, </a:t>
            </a:r>
            <a:r>
              <a:rPr lang="en-US" altLang="ru-RU" b="1" dirty="0" err="1">
                <a:solidFill>
                  <a:schemeClr val="tx1"/>
                </a:solidFill>
              </a:rPr>
              <a:t>RadioButtons</a:t>
            </a:r>
            <a:r>
              <a:rPr lang="ru-RU" altLang="ru-RU" b="1" dirty="0">
                <a:solidFill>
                  <a:schemeClr val="tx1"/>
                </a:solidFill>
              </a:rPr>
              <a:t>, текст)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b="1" dirty="0">
                <a:solidFill>
                  <a:schemeClr val="tx1"/>
                </a:solidFill>
              </a:rPr>
              <a:t>При нажатии кнопки далее:</a:t>
            </a:r>
            <a:r>
              <a:rPr lang="ru-RU" altLang="ru-RU" dirty="0">
                <a:solidFill>
                  <a:schemeClr val="tx1"/>
                </a:solidFill>
              </a:rPr>
              <a:t/>
            </a:r>
            <a:br>
              <a:rPr lang="ru-RU" altLang="ru-RU" dirty="0">
                <a:solidFill>
                  <a:schemeClr val="tx1"/>
                </a:solidFill>
              </a:rPr>
            </a:br>
            <a:r>
              <a:rPr lang="ru-RU" altLang="ru-RU" dirty="0">
                <a:solidFill>
                  <a:schemeClr val="tx1"/>
                </a:solidFill>
              </a:rPr>
              <a:t>Проверить ответ → если верно, </a:t>
            </a:r>
            <a:r>
              <a:rPr lang="ru-RU" altLang="ru-RU" dirty="0" err="1">
                <a:solidFill>
                  <a:schemeClr val="tx1"/>
                </a:solidFill>
              </a:rPr>
              <a:t>score</a:t>
            </a:r>
            <a:r>
              <a:rPr lang="ru-RU" altLang="ru-RU" dirty="0">
                <a:solidFill>
                  <a:schemeClr val="tx1"/>
                </a:solidFill>
              </a:rPr>
              <a:t>++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ru-RU" altLang="ru-RU" dirty="0">
                <a:solidFill>
                  <a:schemeClr val="tx1"/>
                </a:solidFill>
              </a:rPr>
              <a:t>Скрыть  элементы вопроса 2, показать элементы вопроса 3</a:t>
            </a:r>
          </a:p>
        </p:txBody>
      </p:sp>
    </p:spTree>
    <p:extLst>
      <p:ext uri="{BB962C8B-B14F-4D97-AF65-F5344CB8AC3E}">
        <p14:creationId xmlns:p14="http://schemas.microsoft.com/office/powerpoint/2010/main" val="40333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52EBDEB-74B3-4D61-D285-2D4BC5B4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BC3BEE9-B3E7-9F0D-ACCA-F48B74F1A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 программы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0176B76D-7A45-8A3D-0992-6C7CBD497C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179796"/>
            <a:ext cx="9384709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Вопрос №3: показать элементы вопроса (</a:t>
            </a:r>
            <a:r>
              <a:rPr kumimoji="0" lang="en-US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ComboBox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текст)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При нажатии кнопки далее:</a:t>
            </a:r>
            <a:r>
              <a:rPr lang="ru-RU" altLang="ru-RU" sz="1600" dirty="0">
                <a:solidFill>
                  <a:schemeClr val="tx1"/>
                </a:solidFill>
              </a:rPr>
              <a:t/>
            </a:r>
            <a:br>
              <a:rPr lang="ru-RU" altLang="ru-RU" sz="1600" dirty="0">
                <a:solidFill>
                  <a:schemeClr val="tx1"/>
                </a:solidFill>
              </a:rPr>
            </a:br>
            <a:r>
              <a:rPr lang="ru-RU" altLang="ru-RU" sz="1600" dirty="0">
                <a:solidFill>
                  <a:schemeClr val="tx1"/>
                </a:solidFill>
              </a:rPr>
              <a:t>Проверить ответ → если верно, </a:t>
            </a:r>
            <a:r>
              <a:rPr lang="ru-RU" altLang="ru-RU" sz="1600" dirty="0" err="1">
                <a:solidFill>
                  <a:schemeClr val="tx1"/>
                </a:solidFill>
              </a:rPr>
              <a:t>score</a:t>
            </a:r>
            <a:r>
              <a:rPr lang="ru-RU" altLang="ru-RU" sz="1600" dirty="0">
                <a:solidFill>
                  <a:schemeClr val="tx1"/>
                </a:solidFill>
              </a:rPr>
              <a:t>++</a:t>
            </a:r>
            <a:br>
              <a:rPr lang="ru-RU" altLang="ru-RU" sz="1600" dirty="0">
                <a:solidFill>
                  <a:schemeClr val="tx1"/>
                </a:solidFill>
              </a:rPr>
            </a:br>
            <a:r>
              <a:rPr lang="ru-RU" altLang="ru-RU" sz="1600" dirty="0">
                <a:solidFill>
                  <a:schemeClr val="tx1"/>
                </a:solidFill>
              </a:rPr>
              <a:t>Скрыть  элементы вопроса 3, показать элементы вопроса 4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Вопрос №4: </a:t>
            </a:r>
            <a:r>
              <a:rPr lang="ru-RU" altLang="ru-RU" sz="1600" b="1" dirty="0">
                <a:solidFill>
                  <a:schemeClr val="tx1"/>
                </a:solidFill>
              </a:rPr>
              <a:t>показать элементы вопроса (картинка, текст, </a:t>
            </a:r>
            <a:r>
              <a:rPr lang="en-US" altLang="ru-RU" sz="1600" b="1" dirty="0" err="1">
                <a:solidFill>
                  <a:schemeClr val="tx1"/>
                </a:solidFill>
              </a:rPr>
              <a:t>TextBox</a:t>
            </a:r>
            <a:r>
              <a:rPr lang="ru-RU" altLang="ru-RU" sz="1600" b="1" dirty="0">
                <a:solidFill>
                  <a:schemeClr val="tx1"/>
                </a:solidFill>
              </a:rPr>
              <a:t>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b="1" dirty="0">
                <a:solidFill>
                  <a:schemeClr val="tx1"/>
                </a:solidFill>
              </a:rPr>
              <a:t>Идет проверка: пользователь может вводить в </a:t>
            </a:r>
            <a:r>
              <a:rPr lang="en-US" altLang="ru-RU" sz="1600" b="1" dirty="0" err="1">
                <a:solidFill>
                  <a:schemeClr val="tx1"/>
                </a:solidFill>
              </a:rPr>
              <a:t>TextBox</a:t>
            </a:r>
            <a:r>
              <a:rPr lang="en-US" altLang="ru-RU" sz="1600" b="1" dirty="0">
                <a:solidFill>
                  <a:schemeClr val="tx1"/>
                </a:solidFill>
              </a:rPr>
              <a:t> </a:t>
            </a:r>
            <a:r>
              <a:rPr lang="ru-RU" altLang="ru-RU" sz="1600" b="1" dirty="0">
                <a:solidFill>
                  <a:schemeClr val="tx1"/>
                </a:solidFill>
              </a:rPr>
              <a:t>только латинские буквы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b="1" dirty="0">
                <a:solidFill>
                  <a:schemeClr val="tx1"/>
                </a:solidFill>
              </a:rPr>
              <a:t>При нажатии кнопки далее:</a:t>
            </a:r>
            <a:r>
              <a:rPr lang="ru-RU" altLang="ru-RU" sz="1600" dirty="0">
                <a:solidFill>
                  <a:schemeClr val="tx1"/>
                </a:solidFill>
              </a:rPr>
              <a:t/>
            </a:r>
            <a:br>
              <a:rPr lang="ru-RU" altLang="ru-RU" sz="1600" dirty="0">
                <a:solidFill>
                  <a:schemeClr val="tx1"/>
                </a:solidFill>
              </a:rPr>
            </a:br>
            <a:r>
              <a:rPr lang="ru-RU" altLang="ru-RU" sz="1600" dirty="0">
                <a:solidFill>
                  <a:schemeClr val="tx1"/>
                </a:solidFill>
              </a:rPr>
              <a:t>Проверить ответ → если верно, </a:t>
            </a:r>
            <a:r>
              <a:rPr lang="ru-RU" altLang="ru-RU" sz="1600" dirty="0" err="1">
                <a:solidFill>
                  <a:schemeClr val="tx1"/>
                </a:solidFill>
              </a:rPr>
              <a:t>score</a:t>
            </a:r>
            <a:r>
              <a:rPr lang="ru-RU" altLang="ru-RU" sz="1600" dirty="0">
                <a:solidFill>
                  <a:schemeClr val="tx1"/>
                </a:solidFill>
              </a:rPr>
              <a:t>++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ru-RU" altLang="ru-RU" sz="1600" dirty="0">
                <a:solidFill>
                  <a:schemeClr val="tx1"/>
                </a:solidFill>
              </a:rPr>
              <a:t>Скрыть  элементы вопроса 4, показать элементы вопроса 5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b="1" dirty="0">
                <a:solidFill>
                  <a:schemeClr val="tx1"/>
                </a:solidFill>
              </a:rPr>
              <a:t>Вопрос №5: показать элементы вопроса (картинка, текст,</a:t>
            </a:r>
            <a:r>
              <a:rPr lang="en-US" altLang="ru-RU" sz="1600" b="1" dirty="0" err="1">
                <a:solidFill>
                  <a:schemeClr val="tx1"/>
                </a:solidFill>
              </a:rPr>
              <a:t>CheckBox</a:t>
            </a:r>
            <a:r>
              <a:rPr lang="ru-RU" altLang="ru-RU" sz="1600" b="1" dirty="0">
                <a:solidFill>
                  <a:schemeClr val="tx1"/>
                </a:solidFill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b="1" dirty="0">
                <a:solidFill>
                  <a:schemeClr val="tx1"/>
                </a:solidFill>
              </a:rPr>
              <a:t>При нажатии кнопки далее:</a:t>
            </a:r>
            <a:r>
              <a:rPr lang="ru-RU" altLang="ru-RU" sz="1600" dirty="0">
                <a:solidFill>
                  <a:schemeClr val="tx1"/>
                </a:solidFill>
              </a:rPr>
              <a:t/>
            </a:r>
            <a:br>
              <a:rPr lang="ru-RU" altLang="ru-RU" sz="1600" dirty="0">
                <a:solidFill>
                  <a:schemeClr val="tx1"/>
                </a:solidFill>
              </a:rPr>
            </a:br>
            <a:r>
              <a:rPr lang="ru-RU" altLang="ru-RU" sz="1600" dirty="0">
                <a:solidFill>
                  <a:schemeClr val="tx1"/>
                </a:solidFill>
              </a:rPr>
              <a:t>Проверить ответ → если верно, </a:t>
            </a:r>
            <a:r>
              <a:rPr lang="ru-RU" altLang="ru-RU" sz="1600" dirty="0" err="1">
                <a:solidFill>
                  <a:schemeClr val="tx1"/>
                </a:solidFill>
              </a:rPr>
              <a:t>score</a:t>
            </a:r>
            <a:r>
              <a:rPr lang="ru-RU" altLang="ru-RU" sz="1600" dirty="0">
                <a:solidFill>
                  <a:schemeClr val="tx1"/>
                </a:solidFill>
              </a:rPr>
              <a:t>++</a:t>
            </a:r>
            <a:br>
              <a:rPr lang="ru-RU" altLang="ru-RU" sz="1600" dirty="0">
                <a:solidFill>
                  <a:schemeClr val="tx1"/>
                </a:solidFill>
              </a:rPr>
            </a:br>
            <a:r>
              <a:rPr lang="ru-RU" altLang="ru-RU" sz="1600" dirty="0">
                <a:solidFill>
                  <a:schemeClr val="tx1"/>
                </a:solidFill>
              </a:rPr>
              <a:t>Скрыть  элементы вопроса 5, показать элементы вопроса 6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b="1" dirty="0">
                <a:solidFill>
                  <a:schemeClr val="tx1"/>
                </a:solidFill>
              </a:rPr>
              <a:t>Вопрос №6: показать элементы вопроса (картинка, текст,</a:t>
            </a:r>
            <a:r>
              <a:rPr lang="en-US" altLang="ru-RU" sz="1600" b="1" dirty="0">
                <a:solidFill>
                  <a:schemeClr val="tx1"/>
                </a:solidFill>
              </a:rPr>
              <a:t> </a:t>
            </a:r>
            <a:r>
              <a:rPr lang="en-US" altLang="ru-RU" sz="1600" b="1" dirty="0" err="1">
                <a:solidFill>
                  <a:schemeClr val="tx1"/>
                </a:solidFill>
              </a:rPr>
              <a:t>RadioButtons</a:t>
            </a:r>
            <a:r>
              <a:rPr lang="ru-RU" altLang="ru-RU" sz="1600" b="1" dirty="0">
                <a:solidFill>
                  <a:schemeClr val="tx1"/>
                </a:solidFill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b="1" dirty="0">
                <a:solidFill>
                  <a:schemeClr val="tx1"/>
                </a:solidFill>
              </a:rPr>
              <a:t>При нажатии кнопки далее:</a:t>
            </a:r>
            <a:r>
              <a:rPr lang="ru-RU" altLang="ru-RU" sz="1600" dirty="0">
                <a:solidFill>
                  <a:schemeClr val="tx1"/>
                </a:solidFill>
              </a:rPr>
              <a:t/>
            </a:r>
            <a:br>
              <a:rPr lang="ru-RU" altLang="ru-RU" sz="1600" dirty="0">
                <a:solidFill>
                  <a:schemeClr val="tx1"/>
                </a:solidFill>
              </a:rPr>
            </a:br>
            <a:r>
              <a:rPr lang="ru-RU" altLang="ru-RU" sz="1600" dirty="0">
                <a:solidFill>
                  <a:schemeClr val="tx1"/>
                </a:solidFill>
              </a:rPr>
              <a:t>Проверить ответ → если верно, </a:t>
            </a:r>
            <a:r>
              <a:rPr lang="ru-RU" altLang="ru-RU" sz="1600" dirty="0" err="1">
                <a:solidFill>
                  <a:schemeClr val="tx1"/>
                </a:solidFill>
              </a:rPr>
              <a:t>score</a:t>
            </a:r>
            <a:r>
              <a:rPr lang="ru-RU" altLang="ru-RU" sz="1600" dirty="0">
                <a:solidFill>
                  <a:schemeClr val="tx1"/>
                </a:solidFill>
              </a:rPr>
              <a:t>++</a:t>
            </a:r>
            <a:br>
              <a:rPr lang="ru-RU" altLang="ru-RU" sz="1600" dirty="0">
                <a:solidFill>
                  <a:schemeClr val="tx1"/>
                </a:solidFill>
              </a:rPr>
            </a:br>
            <a:r>
              <a:rPr lang="ru-RU" altLang="ru-RU" sz="1600" dirty="0">
                <a:solidFill>
                  <a:schemeClr val="tx1"/>
                </a:solidFill>
              </a:rPr>
              <a:t>Скрыть  элементы вопроса </a:t>
            </a:r>
            <a:r>
              <a:rPr lang="en-US" altLang="ru-RU" sz="1600" dirty="0">
                <a:solidFill>
                  <a:schemeClr val="tx1"/>
                </a:solidFill>
              </a:rPr>
              <a:t>6</a:t>
            </a:r>
            <a:r>
              <a:rPr lang="ru-RU" altLang="ru-RU" sz="1600" dirty="0">
                <a:solidFill>
                  <a:schemeClr val="tx1"/>
                </a:solidFill>
              </a:rPr>
              <a:t>, показать элементы вопроса </a:t>
            </a:r>
            <a:r>
              <a:rPr lang="en-US" altLang="ru-RU" sz="1600" dirty="0">
                <a:solidFill>
                  <a:schemeClr val="tx1"/>
                </a:solidFill>
              </a:rPr>
              <a:t>7</a:t>
            </a:r>
            <a:endParaRPr lang="ru-RU" alt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34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30A180-1FED-D335-FB61-FED2144E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53B5D41-07A7-FDE5-45D8-F0B03421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 программы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8D9EE279-DF11-0E54-054C-084B82C002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284899"/>
            <a:ext cx="9384709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Вопрос №</a:t>
            </a:r>
            <a:r>
              <a:rPr kumimoji="0" lang="en-US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7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показать элементы вопроса (</a:t>
            </a:r>
            <a:r>
              <a:rPr lang="ru-RU" altLang="ru-RU" sz="1600" b="1" dirty="0">
                <a:solidFill>
                  <a:schemeClr val="tx1"/>
                </a:solidFill>
              </a:rPr>
              <a:t>картинка, текст,</a:t>
            </a:r>
            <a:r>
              <a:rPr lang="en-US" altLang="ru-RU" sz="1600" b="1" dirty="0" err="1">
                <a:solidFill>
                  <a:schemeClr val="tx1"/>
                </a:solidFill>
              </a:rPr>
              <a:t>CheckBox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При нажатии кнопки далее:</a:t>
            </a:r>
            <a:r>
              <a:rPr lang="ru-RU" altLang="ru-RU" sz="1600" dirty="0">
                <a:solidFill>
                  <a:schemeClr val="tx1"/>
                </a:solidFill>
              </a:rPr>
              <a:t/>
            </a:r>
            <a:br>
              <a:rPr lang="ru-RU" altLang="ru-RU" sz="1600" dirty="0">
                <a:solidFill>
                  <a:schemeClr val="tx1"/>
                </a:solidFill>
              </a:rPr>
            </a:br>
            <a:r>
              <a:rPr lang="ru-RU" altLang="ru-RU" sz="1600" dirty="0">
                <a:solidFill>
                  <a:schemeClr val="tx1"/>
                </a:solidFill>
              </a:rPr>
              <a:t>Проверить ответ → если верно, </a:t>
            </a:r>
            <a:r>
              <a:rPr lang="ru-RU" altLang="ru-RU" sz="1600" dirty="0" err="1">
                <a:solidFill>
                  <a:schemeClr val="tx1"/>
                </a:solidFill>
              </a:rPr>
              <a:t>score</a:t>
            </a:r>
            <a:r>
              <a:rPr lang="ru-RU" altLang="ru-RU" sz="1600" dirty="0">
                <a:solidFill>
                  <a:schemeClr val="tx1"/>
                </a:solidFill>
              </a:rPr>
              <a:t>++</a:t>
            </a:r>
            <a:br>
              <a:rPr lang="ru-RU" altLang="ru-RU" sz="1600" dirty="0">
                <a:solidFill>
                  <a:schemeClr val="tx1"/>
                </a:solidFill>
              </a:rPr>
            </a:br>
            <a:r>
              <a:rPr lang="ru-RU" altLang="ru-RU" sz="1600" dirty="0">
                <a:solidFill>
                  <a:schemeClr val="tx1"/>
                </a:solidFill>
              </a:rPr>
              <a:t>Скрыть  элементы вопроса </a:t>
            </a:r>
            <a:r>
              <a:rPr lang="en-US" altLang="ru-RU" sz="1600" dirty="0">
                <a:solidFill>
                  <a:schemeClr val="tx1"/>
                </a:solidFill>
              </a:rPr>
              <a:t>7</a:t>
            </a:r>
            <a:r>
              <a:rPr lang="ru-RU" altLang="ru-RU" sz="1600" dirty="0">
                <a:solidFill>
                  <a:schemeClr val="tx1"/>
                </a:solidFill>
              </a:rPr>
              <a:t>, показать элементы вопроса </a:t>
            </a:r>
            <a:r>
              <a:rPr lang="en-US" altLang="ru-RU" sz="1600" dirty="0">
                <a:solidFill>
                  <a:schemeClr val="tx1"/>
                </a:solidFill>
              </a:rPr>
              <a:t>8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Вопрос №</a:t>
            </a:r>
            <a:r>
              <a:rPr kumimoji="0" lang="en-US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8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ru-RU" altLang="ru-RU" sz="1600" b="1" dirty="0">
                <a:solidFill>
                  <a:schemeClr val="tx1"/>
                </a:solidFill>
              </a:rPr>
              <a:t>показать элементы вопроса (картинка, текст, </a:t>
            </a:r>
            <a:r>
              <a:rPr lang="en-US" altLang="ru-RU" sz="1600" b="1" dirty="0" err="1">
                <a:solidFill>
                  <a:schemeClr val="tx1"/>
                </a:solidFill>
              </a:rPr>
              <a:t>TextBox</a:t>
            </a:r>
            <a:r>
              <a:rPr lang="ru-RU" altLang="ru-RU" sz="1600" b="1" dirty="0">
                <a:solidFill>
                  <a:schemeClr val="tx1"/>
                </a:solidFill>
              </a:rPr>
              <a:t>, </a:t>
            </a:r>
            <a:r>
              <a:rPr lang="en-US" altLang="ru-RU" sz="1600" b="1" dirty="0" err="1">
                <a:solidFill>
                  <a:schemeClr val="tx1"/>
                </a:solidFill>
              </a:rPr>
              <a:t>CheckBox</a:t>
            </a:r>
            <a:r>
              <a:rPr lang="ru-RU" altLang="ru-RU" sz="1600" b="1" dirty="0">
                <a:solidFill>
                  <a:schemeClr val="tx1"/>
                </a:solidFill>
              </a:rPr>
              <a:t>)</a:t>
            </a:r>
            <a:endParaRPr lang="en-US" altLang="ru-RU" sz="1600" b="1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b="1" dirty="0">
                <a:solidFill>
                  <a:schemeClr val="tx1"/>
                </a:solidFill>
              </a:rPr>
              <a:t>Идет проверка: пользователь может вводить в </a:t>
            </a:r>
            <a:r>
              <a:rPr lang="en-US" altLang="ru-RU" sz="1600" b="1" dirty="0" err="1">
                <a:solidFill>
                  <a:schemeClr val="tx1"/>
                </a:solidFill>
              </a:rPr>
              <a:t>TextBox</a:t>
            </a:r>
            <a:r>
              <a:rPr lang="en-US" altLang="ru-RU" sz="1600" b="1" dirty="0">
                <a:solidFill>
                  <a:schemeClr val="tx1"/>
                </a:solidFill>
              </a:rPr>
              <a:t> </a:t>
            </a:r>
            <a:r>
              <a:rPr lang="ru-RU" altLang="ru-RU" sz="1600" b="1" dirty="0">
                <a:solidFill>
                  <a:schemeClr val="tx1"/>
                </a:solidFill>
              </a:rPr>
              <a:t>только латинские буквы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b="1" dirty="0">
                <a:solidFill>
                  <a:schemeClr val="tx1"/>
                </a:solidFill>
              </a:rPr>
              <a:t>При нажатии кнопки далее:</a:t>
            </a:r>
            <a:r>
              <a:rPr lang="ru-RU" altLang="ru-RU" sz="1600" dirty="0">
                <a:solidFill>
                  <a:schemeClr val="tx1"/>
                </a:solidFill>
              </a:rPr>
              <a:t/>
            </a:r>
            <a:br>
              <a:rPr lang="ru-RU" altLang="ru-RU" sz="1600" dirty="0">
                <a:solidFill>
                  <a:schemeClr val="tx1"/>
                </a:solidFill>
              </a:rPr>
            </a:br>
            <a:r>
              <a:rPr lang="ru-RU" altLang="ru-RU" sz="1600" dirty="0">
                <a:solidFill>
                  <a:schemeClr val="tx1"/>
                </a:solidFill>
              </a:rPr>
              <a:t>Проверить ответ → если верно, </a:t>
            </a:r>
            <a:r>
              <a:rPr lang="ru-RU" altLang="ru-RU" sz="1600" dirty="0" err="1">
                <a:solidFill>
                  <a:schemeClr val="tx1"/>
                </a:solidFill>
              </a:rPr>
              <a:t>score</a:t>
            </a:r>
            <a:r>
              <a:rPr lang="ru-RU" altLang="ru-RU" sz="1600" dirty="0">
                <a:solidFill>
                  <a:schemeClr val="tx1"/>
                </a:solidFill>
              </a:rPr>
              <a:t>++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ru-RU" altLang="ru-RU" sz="1600" dirty="0">
                <a:solidFill>
                  <a:schemeClr val="tx1"/>
                </a:solidFill>
              </a:rPr>
              <a:t>Скрыть  элементы вопроса 8, показать элементы вопроса 9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b="1" dirty="0">
                <a:solidFill>
                  <a:schemeClr val="tx1"/>
                </a:solidFill>
              </a:rPr>
              <a:t>Вопрос №9: показать элементы вопроса (</a:t>
            </a:r>
            <a:r>
              <a:rPr lang="en-US" altLang="ru-RU" sz="1600" b="1" dirty="0" err="1">
                <a:solidFill>
                  <a:schemeClr val="tx1"/>
                </a:solidFill>
              </a:rPr>
              <a:t>RadioButtons</a:t>
            </a:r>
            <a:r>
              <a:rPr lang="ru-RU" altLang="ru-RU" sz="1600" b="1" dirty="0">
                <a:solidFill>
                  <a:schemeClr val="tx1"/>
                </a:solidFill>
              </a:rPr>
              <a:t>, текст)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600" dirty="0"/>
              <a:t>Запустить обратный отсчёт на 16 секунд: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если </a:t>
            </a:r>
            <a:r>
              <a:rPr lang="en-US" altLang="ru-RU" sz="1600" dirty="0" err="1">
                <a:solidFill>
                  <a:schemeClr val="tx1"/>
                </a:solidFill>
              </a:rPr>
              <a:t>TimeLabel</a:t>
            </a:r>
            <a:r>
              <a:rPr lang="ru-RU" altLang="ru-RU" sz="1600" dirty="0">
                <a:solidFill>
                  <a:schemeClr val="tx1"/>
                </a:solidFill>
              </a:rPr>
              <a:t> виден, то таймер запускается, если нет, то останавливается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При окончании таймера происходит принудительное нажатие кнопки «Далее»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b="1" dirty="0">
                <a:solidFill>
                  <a:schemeClr val="tx1"/>
                </a:solidFill>
              </a:rPr>
              <a:t>При нажатии кнопки далее или по окончанию таймера:</a:t>
            </a:r>
            <a:r>
              <a:rPr lang="ru-RU" altLang="ru-RU" sz="1600" dirty="0">
                <a:solidFill>
                  <a:schemeClr val="tx1"/>
                </a:solidFill>
              </a:rPr>
              <a:t/>
            </a:r>
            <a:br>
              <a:rPr lang="ru-RU" altLang="ru-RU" sz="1600" dirty="0">
                <a:solidFill>
                  <a:schemeClr val="tx1"/>
                </a:solidFill>
              </a:rPr>
            </a:br>
            <a:r>
              <a:rPr lang="ru-RU" altLang="ru-RU" sz="1600" dirty="0">
                <a:solidFill>
                  <a:schemeClr val="tx1"/>
                </a:solidFill>
              </a:rPr>
              <a:t>Остановить таймер;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Проверить ответ → если верно, </a:t>
            </a:r>
            <a:r>
              <a:rPr lang="ru-RU" altLang="ru-RU" sz="1600" dirty="0" err="1">
                <a:solidFill>
                  <a:schemeClr val="tx1"/>
                </a:solidFill>
              </a:rPr>
              <a:t>score</a:t>
            </a:r>
            <a:r>
              <a:rPr lang="ru-RU" altLang="ru-RU" sz="1600" dirty="0">
                <a:solidFill>
                  <a:schemeClr val="tx1"/>
                </a:solidFill>
              </a:rPr>
              <a:t>++</a:t>
            </a:r>
            <a:br>
              <a:rPr lang="ru-RU" altLang="ru-RU" sz="1600" dirty="0">
                <a:solidFill>
                  <a:schemeClr val="tx1"/>
                </a:solidFill>
              </a:rPr>
            </a:br>
            <a:r>
              <a:rPr lang="ru-RU" altLang="ru-RU" sz="1600" dirty="0">
                <a:solidFill>
                  <a:schemeClr val="tx1"/>
                </a:solidFill>
              </a:rPr>
              <a:t>Скрыть  элементы вопроса 9, показать 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136097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AE7B8F6-02B5-9181-EB56-15145B6B6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B5F1856-E88D-259D-95BD-958995E84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 программы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04B905AA-6022-9C8E-18FF-76978A811C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715789"/>
            <a:ext cx="938470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Результат:</a:t>
            </a:r>
            <a:r>
              <a:rPr lang="ru-RU" altLang="ru-RU" dirty="0">
                <a:solidFill>
                  <a:schemeClr val="tx1"/>
                </a:solidFill>
              </a:rPr>
              <a:t/>
            </a:r>
            <a:br>
              <a:rPr lang="ru-RU" altLang="ru-RU" dirty="0">
                <a:solidFill>
                  <a:schemeClr val="tx1"/>
                </a:solidFill>
              </a:rPr>
            </a:br>
            <a:r>
              <a:rPr lang="ru-RU" altLang="ru-RU" dirty="0">
                <a:solidFill>
                  <a:schemeClr val="tx1"/>
                </a:solidFill>
              </a:rPr>
              <a:t>Вывести на экран итоговое количество баллов пользователя, в зависимости от его результата предоставить рекомендации по улучшению: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chemeClr val="tx1"/>
                </a:solidFill>
              </a:rPr>
              <a:t>Если 0-5, то выводится сообщение «Начинающий уровень»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chemeClr val="tx1"/>
                </a:solidFill>
              </a:rPr>
              <a:t>Если 6-10, то «Средний уровень»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chemeClr val="tx1"/>
                </a:solidFill>
              </a:rPr>
              <a:t>Если 11-15, то «Продвинутый уровень»</a:t>
            </a:r>
            <a:br>
              <a:rPr lang="ru-RU" altLang="ru-RU" dirty="0">
                <a:solidFill>
                  <a:schemeClr val="tx1"/>
                </a:solidFill>
              </a:rPr>
            </a:br>
            <a:r>
              <a:rPr lang="ru-RU" altLang="ru-RU" dirty="0">
                <a:solidFill>
                  <a:schemeClr val="tx1"/>
                </a:solidFill>
              </a:rPr>
              <a:t>На экране также появляются 2 кнопки: «В главное меню» и «Пройти тест заново»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b="1" dirty="0">
                <a:solidFill>
                  <a:schemeClr val="tx1"/>
                </a:solidFill>
              </a:rPr>
              <a:t>При нажатии «В главное меню»: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chemeClr val="tx1"/>
                </a:solidFill>
              </a:rPr>
              <a:t>аннулируется </a:t>
            </a:r>
            <a:r>
              <a:rPr lang="en-US" altLang="ru-RU" dirty="0">
                <a:solidFill>
                  <a:schemeClr val="tx1"/>
                </a:solidFill>
              </a:rPr>
              <a:t>score=0;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chemeClr val="tx1"/>
                </a:solidFill>
              </a:rPr>
              <a:t>Очищаются все </a:t>
            </a:r>
            <a:r>
              <a:rPr lang="en-US" altLang="ru-RU" dirty="0" err="1">
                <a:solidFill>
                  <a:schemeClr val="tx1"/>
                </a:solidFill>
              </a:rPr>
              <a:t>TextBox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ru-RU" dirty="0" err="1">
                <a:solidFill>
                  <a:schemeClr val="tx1"/>
                </a:solidFill>
              </a:rPr>
              <a:t>ComboBox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ru-RU" dirty="0" err="1">
                <a:solidFill>
                  <a:schemeClr val="tx1"/>
                </a:solidFill>
              </a:rPr>
              <a:t>CheckBox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ru-RU" dirty="0" err="1">
                <a:solidFill>
                  <a:schemeClr val="tx1"/>
                </a:solidFill>
              </a:rPr>
              <a:t>RadioButtons</a:t>
            </a:r>
            <a:endParaRPr lang="ru-RU" altLang="ru-RU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chemeClr val="tx1"/>
                </a:solidFill>
              </a:rPr>
              <a:t>Перезапускается таймер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chemeClr val="tx1"/>
                </a:solidFill>
              </a:rPr>
              <a:t>Элементы главного меню становятся видны, все другие элементы скрываются</a:t>
            </a:r>
          </a:p>
        </p:txBody>
      </p:sp>
    </p:spTree>
    <p:extLst>
      <p:ext uri="{BB962C8B-B14F-4D97-AF65-F5344CB8AC3E}">
        <p14:creationId xmlns:p14="http://schemas.microsoft.com/office/powerpoint/2010/main" val="274689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28D74E8-2454-4B8D-3F0E-E2EDDD4F1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38DA157-0071-B9CE-E552-4360E61FF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 программы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086989A0-500E-5B11-C703-3B79ACD9E3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3408287"/>
            <a:ext cx="938470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Результат:</a:t>
            </a:r>
            <a:r>
              <a:rPr lang="ru-RU" altLang="ru-RU" dirty="0">
                <a:solidFill>
                  <a:schemeClr val="tx1"/>
                </a:solidFill>
              </a:rPr>
              <a:t/>
            </a:r>
            <a:br>
              <a:rPr lang="ru-RU" altLang="ru-RU" dirty="0">
                <a:solidFill>
                  <a:schemeClr val="tx1"/>
                </a:solidFill>
              </a:rPr>
            </a:br>
            <a:r>
              <a:rPr lang="ru-RU" altLang="ru-RU" b="1" dirty="0">
                <a:solidFill>
                  <a:schemeClr val="tx1"/>
                </a:solidFill>
              </a:rPr>
              <a:t>При нажатии «Пройти тест заново»: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chemeClr val="tx1"/>
                </a:solidFill>
              </a:rPr>
              <a:t>аннулируется </a:t>
            </a:r>
            <a:r>
              <a:rPr lang="en-US" altLang="ru-RU" dirty="0">
                <a:solidFill>
                  <a:schemeClr val="tx1"/>
                </a:solidFill>
              </a:rPr>
              <a:t>score=0;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chemeClr val="tx1"/>
                </a:solidFill>
              </a:rPr>
              <a:t>Очищаются все </a:t>
            </a:r>
            <a:r>
              <a:rPr lang="en-US" altLang="ru-RU" dirty="0" err="1">
                <a:solidFill>
                  <a:schemeClr val="tx1"/>
                </a:solidFill>
              </a:rPr>
              <a:t>TextBox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ru-RU" dirty="0" err="1">
                <a:solidFill>
                  <a:schemeClr val="tx1"/>
                </a:solidFill>
              </a:rPr>
              <a:t>ComboBox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ru-RU" dirty="0" err="1">
                <a:solidFill>
                  <a:schemeClr val="tx1"/>
                </a:solidFill>
              </a:rPr>
              <a:t>CheckBox</a:t>
            </a:r>
            <a:r>
              <a:rPr lang="en-US" altLang="ru-RU" dirty="0">
                <a:solidFill>
                  <a:schemeClr val="tx1"/>
                </a:solidFill>
              </a:rPr>
              <a:t>, </a:t>
            </a:r>
            <a:r>
              <a:rPr lang="en-US" altLang="ru-RU" dirty="0" err="1">
                <a:solidFill>
                  <a:schemeClr val="tx1"/>
                </a:solidFill>
              </a:rPr>
              <a:t>RadioButtons</a:t>
            </a:r>
            <a:endParaRPr lang="ru-RU" altLang="ru-RU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chemeClr val="tx1"/>
                </a:solidFill>
              </a:rPr>
              <a:t>Перезапускается таймер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dirty="0">
                <a:solidFill>
                  <a:schemeClr val="tx1"/>
                </a:solidFill>
              </a:rPr>
              <a:t>Происходит принудительное нажатие кнопки «Начать тестирование» (</a:t>
            </a:r>
            <a:r>
              <a:rPr lang="en-US" altLang="ru-RU" dirty="0" err="1">
                <a:solidFill>
                  <a:schemeClr val="tx1"/>
                </a:solidFill>
              </a:rPr>
              <a:t>Start_Click</a:t>
            </a:r>
            <a:r>
              <a:rPr lang="ru-RU" altLang="ru-RU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6493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Диаграмма взаимодействия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947392" y="1241828"/>
            <a:ext cx="4556066" cy="6491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3762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модели</a:t>
            </a:r>
            <a:endParaRPr lang="ru-R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370205" y="231898"/>
            <a:ext cx="4631595" cy="8451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448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0BC2A84-92F0-3BFA-E697-A7545C9B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программы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="" xmlns:a16="http://schemas.microsoft.com/office/drawing/2014/main" id="{32B120D1-E3F0-8E17-BA79-44478721A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915" y="2014538"/>
            <a:ext cx="3171719" cy="2185616"/>
          </a:xfr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82E63321-4745-4785-AE14-A2997209D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820" y="2014538"/>
            <a:ext cx="3171719" cy="218561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3AD0F97A-B7C6-10BA-188E-F4D43DC44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725" y="2014538"/>
            <a:ext cx="3171719" cy="218561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FA63CC73-5364-8BA2-A441-ACB821977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14" y="4310324"/>
            <a:ext cx="3171719" cy="218561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56356AD8-CF58-FB3B-1521-C79B5145C8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0820" y="4310324"/>
            <a:ext cx="3171720" cy="21856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="" xmlns:a16="http://schemas.microsoft.com/office/drawing/2014/main" id="{73F21AAA-889D-71C3-868F-3501EE9CDE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3725" y="4310325"/>
            <a:ext cx="3171719" cy="218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3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CC54E44-1465-90CF-A39A-2615A4E1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D5F22DE-D95E-2455-9381-5F369A87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программы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="" xmlns:a16="http://schemas.microsoft.com/office/drawing/2014/main" id="{F31B8BBF-50E2-E14F-75DD-18EE578FE8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050" y="1749487"/>
            <a:ext cx="4429463" cy="2766525"/>
          </a:xfrm>
        </p:spPr>
      </p:pic>
      <p:pic>
        <p:nvPicPr>
          <p:cNvPr id="16" name="Рисунок 15">
            <a:extLst>
              <a:ext uri="{FF2B5EF4-FFF2-40B4-BE49-F238E27FC236}">
                <a16:creationId xmlns="" xmlns:a16="http://schemas.microsoft.com/office/drawing/2014/main" id="{6EFF1C1F-B62A-4F07-4E92-EACEA9E46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366" y="3793970"/>
            <a:ext cx="4199294" cy="276652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BEDBF885-3DCE-AEB2-4EAD-2B248CC46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577" y="1680632"/>
            <a:ext cx="4458725" cy="335662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="" xmlns:a16="http://schemas.microsoft.com/office/drawing/2014/main" id="{D9EDBCEC-4052-DD91-FF7A-FAC6FA9F04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724" y="3358944"/>
            <a:ext cx="3744914" cy="303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D79EE205-D896-8762-3AF2-07941DF10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B3838C4-8023-04E1-7D93-3B304D4AE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692" y="2159306"/>
            <a:ext cx="11523643" cy="4472848"/>
          </a:xfrm>
        </p:spPr>
        <p:txBody>
          <a:bodyPr>
            <a:normAutofit/>
          </a:bodyPr>
          <a:lstStyle/>
          <a:p>
            <a:r>
              <a:rPr lang="ru-RU" i="1" dirty="0"/>
              <a:t>С какими трудностями столкнулись:</a:t>
            </a:r>
          </a:p>
          <a:p>
            <a:pPr marL="0" indent="0">
              <a:buNone/>
            </a:pPr>
            <a:r>
              <a:rPr lang="ru-RU" i="1" dirty="0"/>
              <a:t>Загрузка картинки в форму;</a:t>
            </a:r>
          </a:p>
          <a:p>
            <a:pPr marL="0" indent="0">
              <a:buNone/>
            </a:pPr>
            <a:r>
              <a:rPr lang="ru-RU" i="1" dirty="0"/>
              <a:t>Правильный подсчёт баллов;</a:t>
            </a:r>
          </a:p>
          <a:p>
            <a:pPr marL="0" indent="0">
              <a:buNone/>
            </a:pPr>
            <a:r>
              <a:rPr lang="ru-RU" i="1" dirty="0"/>
              <a:t>Очистка </a:t>
            </a:r>
            <a:r>
              <a:rPr lang="en-US" i="1" dirty="0" err="1"/>
              <a:t>TextBox</a:t>
            </a:r>
            <a:r>
              <a:rPr lang="en-US" i="1" dirty="0"/>
              <a:t>, </a:t>
            </a:r>
            <a:r>
              <a:rPr lang="en-US" i="1" dirty="0" err="1"/>
              <a:t>ComboBox</a:t>
            </a:r>
            <a:r>
              <a:rPr lang="en-US" i="1" dirty="0"/>
              <a:t>, </a:t>
            </a:r>
            <a:r>
              <a:rPr lang="en-US" i="1" dirty="0" err="1"/>
              <a:t>RadioButton</a:t>
            </a:r>
            <a:r>
              <a:rPr lang="en-US" i="1" dirty="0"/>
              <a:t> </a:t>
            </a:r>
            <a:r>
              <a:rPr lang="ru-RU" i="1" dirty="0"/>
              <a:t>и </a:t>
            </a:r>
            <a:r>
              <a:rPr lang="ru-RU" i="1" dirty="0" err="1"/>
              <a:t>и</a:t>
            </a:r>
            <a:r>
              <a:rPr lang="ru-RU" i="1" dirty="0"/>
              <a:t> </a:t>
            </a:r>
            <a:r>
              <a:rPr lang="en-US" i="1" dirty="0" err="1"/>
              <a:t>CheckBox</a:t>
            </a:r>
            <a:r>
              <a:rPr lang="en-US" i="1" dirty="0"/>
              <a:t> </a:t>
            </a:r>
            <a:r>
              <a:rPr lang="ru-RU" i="1" dirty="0"/>
              <a:t>после перезапуска программы;</a:t>
            </a:r>
          </a:p>
          <a:p>
            <a:pPr marL="0" indent="0">
              <a:buNone/>
            </a:pPr>
            <a:r>
              <a:rPr lang="ru-RU" i="1" dirty="0"/>
              <a:t>Компоновка элементов в форме.</a:t>
            </a:r>
          </a:p>
          <a:p>
            <a:r>
              <a:rPr lang="ru-RU" i="1" dirty="0"/>
              <a:t>Чему научились</a:t>
            </a:r>
          </a:p>
          <a:p>
            <a:pPr marL="0" indent="0">
              <a:buNone/>
            </a:pPr>
            <a:r>
              <a:rPr lang="ru-RU" i="1" dirty="0"/>
              <a:t>Давать пользователю записывать в </a:t>
            </a:r>
            <a:r>
              <a:rPr lang="en-US" i="1" dirty="0" err="1"/>
              <a:t>TextBox</a:t>
            </a:r>
            <a:r>
              <a:rPr lang="en-US" i="1" dirty="0"/>
              <a:t> </a:t>
            </a:r>
            <a:r>
              <a:rPr lang="ru-RU" i="1" dirty="0"/>
              <a:t>только латинские буквы;</a:t>
            </a:r>
          </a:p>
          <a:p>
            <a:pPr marL="0" indent="0">
              <a:buNone/>
            </a:pPr>
            <a:r>
              <a:rPr lang="ru-RU" i="1" dirty="0"/>
              <a:t>Работать с </a:t>
            </a:r>
            <a:r>
              <a:rPr lang="en-US" i="1" dirty="0" err="1"/>
              <a:t>CheckBox</a:t>
            </a:r>
            <a:r>
              <a:rPr lang="ru-RU" i="1" dirty="0"/>
              <a:t>;</a:t>
            </a:r>
          </a:p>
          <a:p>
            <a:pPr marL="0" indent="0">
              <a:buNone/>
            </a:pPr>
            <a:r>
              <a:rPr lang="ru-RU" i="1" dirty="0"/>
              <a:t>Очищать выбор ответов в </a:t>
            </a:r>
            <a:r>
              <a:rPr lang="en-US" i="1" dirty="0" err="1"/>
              <a:t>RadioButton</a:t>
            </a:r>
            <a:r>
              <a:rPr lang="en-US" i="1" dirty="0"/>
              <a:t> </a:t>
            </a:r>
            <a:r>
              <a:rPr lang="ru-RU" i="1" dirty="0"/>
              <a:t>и </a:t>
            </a:r>
            <a:r>
              <a:rPr lang="ru-RU" i="1" dirty="0" err="1"/>
              <a:t>и</a:t>
            </a:r>
            <a:r>
              <a:rPr lang="ru-RU" i="1" dirty="0"/>
              <a:t> </a:t>
            </a:r>
            <a:r>
              <a:rPr lang="en-US" i="1" dirty="0" err="1"/>
              <a:t>CheckBox</a:t>
            </a:r>
            <a:r>
              <a:rPr lang="ru-RU" i="1" dirty="0"/>
              <a:t>;</a:t>
            </a:r>
            <a:endParaRPr lang="en-US" i="1" dirty="0"/>
          </a:p>
          <a:p>
            <a:pPr marL="0" indent="0">
              <a:buNone/>
            </a:pPr>
            <a:r>
              <a:rPr lang="ru-RU" i="1" dirty="0"/>
              <a:t>Работать с </a:t>
            </a:r>
            <a:r>
              <a:rPr lang="en-US" i="1" dirty="0" err="1"/>
              <a:t>PictureBox</a:t>
            </a:r>
            <a:r>
              <a:rPr lang="ru-RU" i="1" dirty="0"/>
              <a:t>;</a:t>
            </a:r>
          </a:p>
          <a:p>
            <a:pPr marL="0" indent="0">
              <a:buNone/>
            </a:pPr>
            <a:r>
              <a:rPr lang="ru-RU" i="1" dirty="0"/>
              <a:t>Создавать сложную форму со множеством элементов.</a:t>
            </a:r>
          </a:p>
        </p:txBody>
      </p:sp>
    </p:spTree>
    <p:extLst>
      <p:ext uri="{BB962C8B-B14F-4D97-AF65-F5344CB8AC3E}">
        <p14:creationId xmlns:p14="http://schemas.microsoft.com/office/powerpoint/2010/main" val="254479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FA2F964-0675-FC72-C5A2-57ED7E36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2D8A534-505D-99DD-9203-BE5F13D63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F42E2D6E-6211-D447-8548-32803CB78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692" y="2159306"/>
            <a:ext cx="11523643" cy="4472848"/>
          </a:xfrm>
        </p:spPr>
        <p:txBody>
          <a:bodyPr>
            <a:normAutofit/>
          </a:bodyPr>
          <a:lstStyle/>
          <a:p>
            <a:r>
              <a:rPr lang="ru-RU" i="1" dirty="0"/>
              <a:t>Какие достоинства вашей программы, чем может быть полезна</a:t>
            </a:r>
          </a:p>
          <a:p>
            <a:pPr marL="0" indent="0">
              <a:buNone/>
            </a:pPr>
            <a:r>
              <a:rPr lang="ru-RU" i="1" dirty="0"/>
              <a:t>Помогает пользователю поверхностно узнать свой уровень английского;</a:t>
            </a:r>
          </a:p>
          <a:p>
            <a:pPr marL="0" indent="0">
              <a:buNone/>
            </a:pPr>
            <a:r>
              <a:rPr lang="ru-RU" i="1" dirty="0"/>
              <a:t>Простой интерфейс, минимализм;</a:t>
            </a:r>
          </a:p>
          <a:p>
            <a:pPr marL="0" indent="0">
              <a:buNone/>
            </a:pPr>
            <a:r>
              <a:rPr lang="ru-RU" i="1" dirty="0"/>
              <a:t>Достаточно разнообразный вид вопросов;</a:t>
            </a:r>
          </a:p>
          <a:p>
            <a:pPr marL="0" indent="0">
              <a:buNone/>
            </a:pPr>
            <a:r>
              <a:rPr lang="ru-RU" i="1" dirty="0"/>
              <a:t>Простой код, понятен для других программистов.</a:t>
            </a:r>
          </a:p>
          <a:p>
            <a:r>
              <a:rPr lang="ru-RU" i="1" dirty="0"/>
              <a:t>Перспективы развития</a:t>
            </a:r>
          </a:p>
          <a:p>
            <a:pPr marL="0" indent="0">
              <a:buNone/>
            </a:pPr>
            <a:r>
              <a:rPr lang="ru-RU" i="1" dirty="0"/>
              <a:t>Добавить больше разнообразия в элементах, из которых строится вопрос;</a:t>
            </a:r>
          </a:p>
          <a:p>
            <a:pPr marL="0" indent="0">
              <a:buNone/>
            </a:pPr>
            <a:r>
              <a:rPr lang="ru-RU" i="1" dirty="0"/>
              <a:t>Добавить более углубленный уровень оценки (</a:t>
            </a:r>
            <a:r>
              <a:rPr lang="en-US" i="1" dirty="0"/>
              <a:t>A1-C3);</a:t>
            </a:r>
            <a:endParaRPr lang="ru-RU" i="1" dirty="0"/>
          </a:p>
          <a:p>
            <a:pPr marL="0" indent="0">
              <a:buNone/>
            </a:pPr>
            <a:r>
              <a:rPr lang="ru-RU" i="1" dirty="0"/>
              <a:t>Улучшить интерфейс, добавить больше красок в форму;</a:t>
            </a:r>
          </a:p>
          <a:p>
            <a:pPr marL="0" indent="0">
              <a:buNone/>
            </a:pPr>
            <a:r>
              <a:rPr lang="ru-RU" i="1" dirty="0"/>
              <a:t>Добавить таймер, который показывает время, которое пользователь затратил на тест;</a:t>
            </a:r>
          </a:p>
          <a:p>
            <a:pPr marL="0" indent="0">
              <a:buNone/>
            </a:pPr>
            <a:r>
              <a:rPr lang="ru-RU" i="1" dirty="0"/>
              <a:t>Добавить элемент, где можно будет посмотреть свои предыдущие результаты.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1391"/>
            <a:ext cx="78006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Ссылка на </a:t>
            </a:r>
            <a:r>
              <a:rPr lang="en-US" dirty="0" err="1"/>
              <a:t>GitHub</a:t>
            </a:r>
            <a:r>
              <a:rPr lang="ru-RU" dirty="0" smtClean="0"/>
              <a:t>: </a:t>
            </a:r>
            <a:r>
              <a:rPr lang="en-US" dirty="0" smtClean="0"/>
              <a:t>https</a:t>
            </a:r>
            <a:r>
              <a:rPr lang="ru-RU" dirty="0"/>
              <a:t>://</a:t>
            </a:r>
            <a:r>
              <a:rPr lang="en-US" dirty="0" err="1"/>
              <a:t>github</a:t>
            </a:r>
            <a:r>
              <a:rPr lang="ru-RU" dirty="0"/>
              <a:t>.</a:t>
            </a:r>
            <a:r>
              <a:rPr lang="en-US" dirty="0"/>
              <a:t>com</a:t>
            </a:r>
            <a:r>
              <a:rPr lang="ru-RU" dirty="0"/>
              <a:t>/</a:t>
            </a:r>
            <a:r>
              <a:rPr lang="en-US" dirty="0"/>
              <a:t>TT</a:t>
            </a:r>
            <a:r>
              <a:rPr lang="ru-RU" dirty="0"/>
              <a:t>-</a:t>
            </a:r>
            <a:r>
              <a:rPr lang="en-US" dirty="0" err="1"/>
              <a:t>lgtm</a:t>
            </a:r>
            <a:r>
              <a:rPr lang="ru-RU" dirty="0"/>
              <a:t>/</a:t>
            </a:r>
            <a:r>
              <a:rPr lang="en-US" dirty="0"/>
              <a:t>MDK</a:t>
            </a:r>
            <a:r>
              <a:rPr lang="ru-RU" dirty="0"/>
              <a:t>.02.01_</a:t>
            </a:r>
            <a:r>
              <a:rPr lang="en-US" dirty="0" err="1"/>
              <a:t>Var</a:t>
            </a:r>
            <a:r>
              <a:rPr lang="ru-RU" dirty="0"/>
              <a:t>_17</a:t>
            </a:r>
          </a:p>
        </p:txBody>
      </p:sp>
    </p:spTree>
    <p:extLst>
      <p:ext uri="{BB962C8B-B14F-4D97-AF65-F5344CB8AC3E}">
        <p14:creationId xmlns:p14="http://schemas.microsoft.com/office/powerpoint/2010/main" val="124258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189</TotalTime>
  <Words>417</Words>
  <Application>Microsoft Office PowerPoint</Application>
  <PresentationFormat>Произвольный</PresentationFormat>
  <Paragraphs>106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Совет директоров</vt:lpstr>
      <vt:lpstr>Индивидуальное задание на тему «Тестирование» по дисциплине МДК.02.01 Технология разработки программного обеспечения</vt:lpstr>
      <vt:lpstr>ПОСТАНОВКА ЗАДАЧИ</vt:lpstr>
      <vt:lpstr>Входные и выходные данные</vt:lpstr>
      <vt:lpstr>Математическая модель </vt:lpstr>
      <vt:lpstr>Алгоритм работы программы</vt:lpstr>
      <vt:lpstr>Алгоритм работы программы</vt:lpstr>
      <vt:lpstr>Алгоритм работы программы</vt:lpstr>
      <vt:lpstr>Алгоритм работы программы</vt:lpstr>
      <vt:lpstr>Алгоритм работы программы</vt:lpstr>
      <vt:lpstr>Диаграмма взаимодействия</vt:lpstr>
      <vt:lpstr>Структура модели</vt:lpstr>
      <vt:lpstr>Интерфейс программы</vt:lpstr>
      <vt:lpstr>Интерфейс программы</vt:lpstr>
      <vt:lpstr>Заключение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Зачетная работа  на тему «            » по дисциплине ОП.04 Основы алгоритмизации и программирования</dc:title>
  <dc:creator>dasha filatova</dc:creator>
  <cp:lastModifiedBy>Лаптева Валерия Валерьевна</cp:lastModifiedBy>
  <cp:revision>55</cp:revision>
  <dcterms:created xsi:type="dcterms:W3CDTF">2022-12-09T13:13:25Z</dcterms:created>
  <dcterms:modified xsi:type="dcterms:W3CDTF">2025-12-15T14:12:16Z</dcterms:modified>
</cp:coreProperties>
</file>